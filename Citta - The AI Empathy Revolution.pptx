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Inter SemiBold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20C60A-F506-4A4A-9F4B-7A32B7F268FC}">
  <a:tblStyle styleId="{EB20C60A-F506-4A4A-9F4B-7A32B7F268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Inter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-italic.fntdata"/><Relationship Id="rId14" Type="http://schemas.openxmlformats.org/officeDocument/2006/relationships/slide" Target="slides/slide8.xml"/><Relationship Id="rId36" Type="http://schemas.openxmlformats.org/officeDocument/2006/relationships/font" Target="fonts/Inter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42.png"/><Relationship Id="rId7" Type="http://schemas.openxmlformats.org/officeDocument/2006/relationships/image" Target="../media/image27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11" Type="http://schemas.openxmlformats.org/officeDocument/2006/relationships/image" Target="../media/image33.png"/><Relationship Id="rId10" Type="http://schemas.openxmlformats.org/officeDocument/2006/relationships/image" Target="../media/image29.png"/><Relationship Id="rId9" Type="http://schemas.openxmlformats.org/officeDocument/2006/relationships/image" Target="../media/image35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34.png"/><Relationship Id="rId8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32.png"/><Relationship Id="rId6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6.png"/><Relationship Id="rId9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30.png"/><Relationship Id="rId7" Type="http://schemas.openxmlformats.org/officeDocument/2006/relationships/image" Target="../media/image44.png"/><Relationship Id="rId8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755832" y="2203102"/>
            <a:ext cx="268033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CITTA</a:t>
            </a:r>
            <a:r>
              <a:rPr b="1" i="0" lang="en-US" sz="63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273623"/>
            <a:ext cx="8572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Where AI Meets Empathy: The Digital Sanctuary for a Lonely World.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5937" y="427374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4273748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21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1993106"/>
            <a:ext cx="549068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The Scale of Isolation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2545556"/>
            <a:ext cx="52292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Loneliness is no longer a personal feeling; it is a clinical pandemic.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in 4 adults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globally report feeling lonely, affecting over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billion people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716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14400" y="3598068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24% Prevalence: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 urban India, disconnection is surging.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4312443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Paradox of Connection: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Digital access has reduced real empathy.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5026818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Young &amp; Old: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Gen Z and the Elderly remain most vulnerable.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50456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364831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079206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Loneliness: A Silent Epidemic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2393156" y="1876425"/>
            <a:ext cx="19431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2393156" y="3019425"/>
            <a:ext cx="19431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Cigarettes/Day Risk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960518" y="1876425"/>
            <a:ext cx="18383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960518" y="3019425"/>
            <a:ext cx="18383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Deaths Every Hour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6575" y="40862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23925" y="4791075"/>
            <a:ext cx="46863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Cardiovascular Impact: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29% increase in heart disease and 32% increase in stroke risk.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4425" y="40862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581775" y="4791075"/>
            <a:ext cx="46863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Cognitive Decline: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40% higher risk of dementia and chronic depression among the isolated.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The Aftermath: Mortality &amp; Health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621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9716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381750" y="2152650"/>
            <a:ext cx="549068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Evolving Social Structures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81750" y="2705100"/>
            <a:ext cx="52292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India is experiencing a rapid breakdown of traditional joint families, replaced by nuclear setups and high-pressure urbanization.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15125" y="3709987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Migration: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Massive shift to Tier-1 cities leaving roots behind.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15125" y="4424362"/>
            <a:ext cx="4895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Nuclear Families: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Reduced inter-generational support.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15125" y="4867275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Student Isolation: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Competitive stress fueling student loneliness.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76237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47675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919662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The Indian Context: A Shifting Society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57325"/>
            <a:ext cx="1102995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81025" y="4664868"/>
            <a:ext cx="110299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2030, mental health neglect and loneliness will projected cost the Indian economy over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$1 Trillion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 lost GDP potential.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Economic Toll: The $1 Trillion Drain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962025" y="771525"/>
            <a:ext cx="4590573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Citta: Your Digital Sanctuary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771525" y="771525"/>
            <a:ext cx="57150" cy="990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771525" y="2283618"/>
            <a:ext cx="479059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Human Empathy at Scale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71525" y="2978943"/>
            <a:ext cx="45624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Citta is an AI-powered emotional companion designed to fill the void. Not a search engine, but a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friend who remembers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104900" y="4212431"/>
            <a:ext cx="42291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Empathetic Listening: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Non-judgmental support 24/7.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104900" y="4926806"/>
            <a:ext cx="42291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Long-term Memory: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Context-aware history.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04900" y="5369718"/>
            <a:ext cx="42291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Safe Space: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Privacy at the core.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264818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979193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776787"/>
            <a:ext cx="11029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457325"/>
            <a:ext cx="5372100" cy="3033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457325"/>
            <a:ext cx="5372100" cy="3033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4786312"/>
            <a:ext cx="19431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806767" y="2600325"/>
            <a:ext cx="49206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Web Application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23925" y="3152775"/>
            <a:ext cx="46863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Next.js 14 based modern responsive experience for deep conversations and customization on desktop browsers.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464617" y="2600325"/>
            <a:ext cx="49206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Mobile Application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581775" y="3152775"/>
            <a:ext cx="46863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React Native/Expo app for iOS and Android. Native STT/TTS and real-time push check-ins on-the-go.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81325" y="18478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53475" y="184785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Multi-Platform Ecosystem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21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716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914400" y="2514600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Physical Avatar: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Face shape, hair, skin tone, and outfit customization.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14400" y="3228975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Voice Styling: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Calm, Energetic, Soothing, or Encouraging tones.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14400" y="3943350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Personality Traits: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Empathetic, Wise, Playful, or Motivational styles.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14400" y="4657725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Memory Logic: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Learns favorite topics and remembers mood triggers.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Crafting Your AI Identity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1"/>
          <p:cNvGraphicFramePr/>
          <p:nvPr/>
        </p:nvGraphicFramePr>
        <p:xfrm>
          <a:off x="581025" y="23360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{EB20C60A-F506-4A4A-9F4B-7A32B7F268FC}</a:tableStyleId>
              </a:tblPr>
              <a:tblGrid>
                <a:gridCol w="1935200"/>
                <a:gridCol w="4154825"/>
                <a:gridCol w="4939900"/>
              </a:tblGrid>
              <a:tr h="6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Stack 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Value Proposition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</a:tr>
              <a:tr h="6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Next.js / Tailwind CSS / 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Blazing fast performance &amp; SSR.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Node.js / Express / TypeScript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Secure, scalable API architecture.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Intelligence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 GPT-4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Fine-tuned emotional IQ &amp; logic.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PostgreSQL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Persistent, encrypted relational data.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1"/>
          <p:cNvSpPr/>
          <p:nvPr/>
        </p:nvSpPr>
        <p:spPr>
          <a:xfrm>
            <a:off x="581025" y="2888456"/>
            <a:ext cx="193521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2516237" y="2888456"/>
            <a:ext cx="415483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671071" y="2888456"/>
            <a:ext cx="493990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81025" y="3512343"/>
            <a:ext cx="193521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2516237" y="3512343"/>
            <a:ext cx="415483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671071" y="3512343"/>
            <a:ext cx="493990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81025" y="4136231"/>
            <a:ext cx="193521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516237" y="4136231"/>
            <a:ext cx="415483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671071" y="4136231"/>
            <a:ext cx="493990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81025" y="4760118"/>
            <a:ext cx="193521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2516237" y="4760118"/>
            <a:ext cx="415483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671071" y="4760118"/>
            <a:ext cx="493990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81025" y="5384006"/>
            <a:ext cx="1935212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516237" y="5384006"/>
            <a:ext cx="415483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6671071" y="5384006"/>
            <a:ext cx="493990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Technological Infrastructure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621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481387"/>
            <a:ext cx="1568648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6148" y="3481387"/>
            <a:ext cx="1568648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262437"/>
            <a:ext cx="1568648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36148" y="4262437"/>
            <a:ext cx="1568648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5043487"/>
            <a:ext cx="1568648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36148" y="5043487"/>
            <a:ext cx="1568648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0550" y="19716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6381750" y="2195512"/>
            <a:ext cx="549068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The India-First Strategy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381750" y="2747962"/>
            <a:ext cx="52292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Citta is designed for the linguistic diversity of India, ensuring a deeper emotional bond through the mother tongue.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Vernacular at Heart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/>
          <p:nvPr/>
        </p:nvSpPr>
        <p:spPr>
          <a:xfrm>
            <a:off x="581025" y="404812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1679971" y="30241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520362" y="3443287"/>
            <a:ext cx="254781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1. Onboarding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581025" y="3995737"/>
            <a:ext cx="242649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Secure login &amp; first-time AI customization.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4547741" y="30241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3388131" y="3443287"/>
            <a:ext cx="254781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2. Active Listening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3448794" y="4367212"/>
            <a:ext cx="242649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24/7 AI conversation with memory tracking.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7415510" y="30241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6255900" y="3443287"/>
            <a:ext cx="254781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3. Wellness Loop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316563" y="4367212"/>
            <a:ext cx="242649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Daily check-ins &amp; mood analytics.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10283279" y="302418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9123670" y="3443287"/>
            <a:ext cx="254781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4. Deep Bonding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9184332" y="4367212"/>
            <a:ext cx="242649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Personalized history and proactive support.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The Journey of Connection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581025" y="2312193"/>
            <a:ext cx="549068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Trust-First Architecture</a:t>
            </a:r>
            <a:endParaRPr/>
          </a:p>
        </p:txBody>
      </p:sp>
      <p:pic>
        <p:nvPicPr>
          <p:cNvPr descr="image.png" id="258" name="Google Shape;2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112" y="29337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6724650" y="4076700"/>
            <a:ext cx="4543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Safety controls, age checks, and purpose-limited data logs ensure a safe sanctuary for every user.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914400" y="2836068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DPDP Act 2026: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Fully aligned with new Indian data protection rules.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914400" y="3550443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Minimization: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Only vital conversational context is stored.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914400" y="4264818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End-to-End Encryption: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TLS in transit and Bcrypt/AES at rest.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914400" y="4979193"/>
            <a:ext cx="48958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Right to Erase: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1-click account and data deletion policy.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Privacy &amp; DPDP Compliance</a:t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95737"/>
            <a:ext cx="11029950" cy="2281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457325"/>
            <a:ext cx="3479750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6525" y="1457325"/>
            <a:ext cx="3498800" cy="2252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1075" y="1457325"/>
            <a:ext cx="3479750" cy="225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923925" y="4519612"/>
            <a:ext cx="103441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Razorpay &amp; UPI Integration: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Frictionless e-mandates and Autopay for Indian users, ensuring reliability where international gateways falter.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854076" y="1800225"/>
            <a:ext cx="29336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72-Hour Trial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923925" y="2352675"/>
            <a:ext cx="27939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Full premium access for first-time users to experience empathy without upfront cost.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4629101" y="1809750"/>
            <a:ext cx="29336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INR 299 / Month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4698950" y="2362200"/>
            <a:ext cx="27939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Affordable monthly subscription for deep memory and localized voices.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8404127" y="1800225"/>
            <a:ext cx="293364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INR 1999 / Year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8473975" y="2352675"/>
            <a:ext cx="27939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Value plan providing 45% discount for long-term emotional support.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Seamless India-First Payments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57325"/>
            <a:ext cx="1102995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 txBox="1"/>
          <p:nvPr/>
        </p:nvSpPr>
        <p:spPr>
          <a:xfrm>
            <a:off x="581025" y="5403056"/>
            <a:ext cx="110299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Indian mental health market is growing at a 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28% CAGR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driven by the surge in digital-first Gen Z wellness demand.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Growth: The $62B Opportunity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7"/>
          <p:cNvSpPr txBox="1"/>
          <p:nvPr/>
        </p:nvSpPr>
        <p:spPr>
          <a:xfrm>
            <a:off x="581025" y="5003006"/>
            <a:ext cx="110299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Assumes average revenue per paid user (ARPPU) based on Monthly/Yearly mix.</a:t>
            </a:r>
            <a:endParaRPr/>
          </a:p>
        </p:txBody>
      </p:sp>
      <p:graphicFrame>
        <p:nvGraphicFramePr>
          <p:cNvPr id="299" name="Google Shape;299;p27"/>
          <p:cNvGraphicFramePr/>
          <p:nvPr/>
        </p:nvGraphicFramePr>
        <p:xfrm>
          <a:off x="581025" y="22788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{EB20C60A-F506-4A4A-9F4B-7A32B7F268FC}</a:tableStyleId>
              </a:tblPr>
              <a:tblGrid>
                <a:gridCol w="2731900"/>
                <a:gridCol w="2352075"/>
                <a:gridCol w="2761050"/>
                <a:gridCol w="3184925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Year 1 (Pilot)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Year 3 (Scaling)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Year 5 (Dominance)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500,000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2.5 Million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Conversion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Annual Revenue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₹1.2 Cr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₹18 Cr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₹110 Cr+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27"/>
          <p:cNvSpPr/>
          <p:nvPr/>
        </p:nvSpPr>
        <p:spPr>
          <a:xfrm>
            <a:off x="581025" y="2831306"/>
            <a:ext cx="27318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3312914" y="2831306"/>
            <a:ext cx="235207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5664993" y="2831306"/>
            <a:ext cx="27610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8426053" y="2831306"/>
            <a:ext cx="31849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581025" y="3455193"/>
            <a:ext cx="27318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3312914" y="3455193"/>
            <a:ext cx="235207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5664993" y="3455193"/>
            <a:ext cx="27610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8426053" y="3455193"/>
            <a:ext cx="31849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581025" y="4079081"/>
            <a:ext cx="27318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3312914" y="4079081"/>
            <a:ext cx="235207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5664993" y="4079081"/>
            <a:ext cx="27610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8426053" y="4079081"/>
            <a:ext cx="31849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581025" y="4702968"/>
            <a:ext cx="273188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3312914" y="4702968"/>
            <a:ext cx="235207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5664993" y="4702968"/>
            <a:ext cx="27610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8426053" y="4702968"/>
            <a:ext cx="31849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Revenue Roadmap (Year 1-5)</a:t>
            </a:r>
            <a:endParaRPr/>
          </a:p>
        </p:txBody>
      </p:sp>
      <p:sp>
        <p:nvSpPr>
          <p:cNvPr id="317" name="Google Shape;317;p27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21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8"/>
          <p:cNvSpPr txBox="1"/>
          <p:nvPr/>
        </p:nvSpPr>
        <p:spPr>
          <a:xfrm>
            <a:off x="581025" y="2157412"/>
            <a:ext cx="549068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Beyond the Screen</a:t>
            </a:r>
            <a:endParaRPr/>
          </a:p>
        </p:txBody>
      </p:sp>
      <p:sp>
        <p:nvSpPr>
          <p:cNvPr id="325" name="Google Shape;325;p28"/>
          <p:cNvSpPr txBox="1"/>
          <p:nvPr/>
        </p:nvSpPr>
        <p:spPr>
          <a:xfrm>
            <a:off x="581025" y="2709862"/>
            <a:ext cx="52292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Citta is moving from a voice on your phone to a presence in your home.</a:t>
            </a:r>
            <a:endParaRPr/>
          </a:p>
        </p:txBody>
      </p:sp>
      <p:pic>
        <p:nvPicPr>
          <p:cNvPr descr="image.png" id="326" name="Google Shape;32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716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8"/>
          <p:cNvSpPr txBox="1"/>
          <p:nvPr/>
        </p:nvSpPr>
        <p:spPr>
          <a:xfrm>
            <a:off x="914400" y="3433762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AR/VR Companions: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Realistic holographic interaction via AR glasses.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914400" y="4148137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B2B Wellness: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Integration with Corporate HR for employee mood tracking.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914400" y="4862512"/>
            <a:ext cx="4895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Clinical Support: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Partnerships with therapists for hybrid human-AI recovery.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Future Vision: Spatial Empathy</a:t>
            </a:r>
            <a:endParaRPr/>
          </a:p>
        </p:txBody>
      </p:sp>
      <p:sp>
        <p:nvSpPr>
          <p:cNvPr id="331" name="Google Shape;331;p28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6" name="Google Shape;3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57325"/>
            <a:ext cx="110299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/>
          <p:nvPr/>
        </p:nvSpPr>
        <p:spPr>
          <a:xfrm>
            <a:off x="1162050" y="2343150"/>
            <a:ext cx="98679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"Our goal is not just to build a product, but to ensure that in an increasingly digital world, </a:t>
            </a:r>
            <a:r>
              <a:rPr b="0" i="0" lang="en-US" sz="24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human has to feel truly alone</a:t>
            </a:r>
            <a:r>
              <a:rPr b="0" i="0" lang="en-US" sz="24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."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1350912" y="4886325"/>
            <a:ext cx="23336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24/7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1350912" y="6029325"/>
            <a:ext cx="2333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EMPATHY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5224313" y="4886325"/>
            <a:ext cx="11906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5224313" y="6029325"/>
            <a:ext cx="1190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JUDGMENT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7954714" y="4886325"/>
            <a:ext cx="288607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344" name="Google Shape;344;p29"/>
          <p:cNvSpPr txBox="1"/>
          <p:nvPr/>
        </p:nvSpPr>
        <p:spPr>
          <a:xfrm>
            <a:off x="7954714" y="6029325"/>
            <a:ext cx="2886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PRIVACY</a:t>
            </a:r>
            <a:endParaRPr/>
          </a:p>
        </p:txBody>
      </p:sp>
      <p:sp>
        <p:nvSpPr>
          <p:cNvPr id="345" name="Google Shape;345;p29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The Citta Mission</a:t>
            </a:r>
            <a:endParaRPr/>
          </a:p>
        </p:txBody>
      </p:sp>
      <p:sp>
        <p:nvSpPr>
          <p:cNvPr id="346" name="Google Shape;346;p29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4680823" y="2047875"/>
            <a:ext cx="2830353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Q&amp;A</a:t>
            </a:r>
            <a:r>
              <a:rPr b="1" i="0" lang="en-US" sz="8250" u="none" cap="none" strike="noStrike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1809750" y="3390900"/>
            <a:ext cx="8572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Join us in bridging the bridge of connection.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3990975" y="4581525"/>
            <a:ext cx="421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www.citta-ai.com | investor-relations@citta.ai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1"/>
          <p:cNvSpPr/>
          <p:nvPr/>
        </p:nvSpPr>
        <p:spPr>
          <a:xfrm>
            <a:off x="581025" y="1457325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581025" y="2400300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581025" y="334327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581025" y="411480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581025" y="4886325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581025" y="23907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581025" y="23907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581025" y="33337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581025" y="33337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581025" y="41052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581025" y="41052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581025" y="48768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581025" y="48768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581025" y="58197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581025" y="58197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5" name="Google Shape;37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85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1"/>
          <p:cNvSpPr txBox="1"/>
          <p:nvPr/>
        </p:nvSpPr>
        <p:spPr>
          <a:xfrm>
            <a:off x="1676400" y="1600200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https://media.istockphoto.com/id/2163346529/photo/silhouetted-group-of-people-over-abstract-city-lights.jpg?s=612x612&amp;w=0&amp;k=20&amp;c=sKIJM3jAsyZ0YgfsZnwCKK1Y3mNgT5OL5C3JSxS0lLQ=</a:t>
            </a:r>
            <a:endParaRPr/>
          </a:p>
        </p:txBody>
      </p:sp>
      <p:sp>
        <p:nvSpPr>
          <p:cNvPr id="377" name="Google Shape;377;p31"/>
          <p:cNvSpPr txBox="1"/>
          <p:nvPr/>
        </p:nvSpPr>
        <p:spPr>
          <a:xfrm>
            <a:off x="1676400" y="2019300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378" name="Google Shape;37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28900"/>
            <a:ext cx="16954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1"/>
          <p:cNvSpPr txBox="1"/>
          <p:nvPr/>
        </p:nvSpPr>
        <p:spPr>
          <a:xfrm>
            <a:off x="1676400" y="2543175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https://static.vecteezy.com/system/resources/previews/055/158/915/large_2x/elderly-indian-woman-in-sari-smiling-gently-outdoors-in-daylight-calm-and-kind-expression-photo.jpeg</a:t>
            </a:r>
            <a:endParaRPr/>
          </a:p>
        </p:txBody>
      </p:sp>
      <p:sp>
        <p:nvSpPr>
          <p:cNvPr id="380" name="Google Shape;380;p31"/>
          <p:cNvSpPr txBox="1"/>
          <p:nvPr/>
        </p:nvSpPr>
        <p:spPr>
          <a:xfrm>
            <a:off x="1676400" y="2962275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381" name="Google Shape;38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861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1"/>
          <p:cNvSpPr txBox="1"/>
          <p:nvPr/>
        </p:nvSpPr>
        <p:spPr>
          <a:xfrm>
            <a:off x="1676400" y="349329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https://media.easy-peasy.ai/8abfe123-f3f1-425e-a194-0da8fc4a37a0/ae91b4e3-0013-4171-acd3-a89c37894d8f_medium.webp</a:t>
            </a:r>
            <a:endParaRPr/>
          </a:p>
        </p:txBody>
      </p:sp>
      <p:sp>
        <p:nvSpPr>
          <p:cNvPr id="383" name="Google Shape;383;p31"/>
          <p:cNvSpPr txBox="1"/>
          <p:nvPr/>
        </p:nvSpPr>
        <p:spPr>
          <a:xfrm>
            <a:off x="1676400" y="372665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easy-peasy.ai</a:t>
            </a:r>
            <a:endParaRPr/>
          </a:p>
        </p:txBody>
      </p:sp>
      <p:pic>
        <p:nvPicPr>
          <p:cNvPr descr="image.png" id="384" name="Google Shape;38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576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1"/>
          <p:cNvSpPr txBox="1"/>
          <p:nvPr/>
        </p:nvSpPr>
        <p:spPr>
          <a:xfrm>
            <a:off x="1676400" y="426481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https://cdn.prod.website-files.com/5e8e816d43060db856099187/6751d7b5992daf50d6614fdb_1-dark-dashboard-webflow-template.png</a:t>
            </a:r>
            <a:endParaRPr/>
          </a:p>
        </p:txBody>
      </p:sp>
      <p:sp>
        <p:nvSpPr>
          <p:cNvPr id="386" name="Google Shape;386;p31"/>
          <p:cNvSpPr txBox="1"/>
          <p:nvPr/>
        </p:nvSpPr>
        <p:spPr>
          <a:xfrm>
            <a:off x="1676400" y="449818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brixtemplates.com</a:t>
            </a:r>
            <a:endParaRPr/>
          </a:p>
        </p:txBody>
      </p:sp>
      <p:pic>
        <p:nvPicPr>
          <p:cNvPr descr="image.png" id="387" name="Google Shape;387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114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1"/>
          <p:cNvSpPr txBox="1"/>
          <p:nvPr/>
        </p:nvSpPr>
        <p:spPr>
          <a:xfrm>
            <a:off x="1676400" y="5029200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https://static.vecteezy.com/system/resources/previews/060/422/546/non_2x/user-friendly-messaging-app-interface-with-chat-bubbles-and-user-profiles-isolated-on-a-transparent-background-for-digital-mockups-free-png.png</a:t>
            </a:r>
            <a:endParaRPr/>
          </a:p>
        </p:txBody>
      </p:sp>
      <p:sp>
        <p:nvSpPr>
          <p:cNvPr id="389" name="Google Shape;389;p31"/>
          <p:cNvSpPr txBox="1"/>
          <p:nvPr/>
        </p:nvSpPr>
        <p:spPr>
          <a:xfrm>
            <a:off x="1676400" y="5448300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390" name="Google Shape;390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60579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1"/>
          <p:cNvSpPr txBox="1"/>
          <p:nvPr/>
        </p:nvSpPr>
        <p:spPr>
          <a:xfrm>
            <a:off x="1676400" y="5972175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https://elements-resized.envatousercontent.com/elements-video-cover-images/7252ad66-638a-4f60-af3f-514bee4ea334/video_preview/video_preview_0000.jpg?w=500&amp;cf_fit=cover&amp;q=85&amp;format=auto&amp;s=663d4f501664c8528e91602a019d0c41993c3452b3f1f125a12d3877a0f851bb</a:t>
            </a:r>
            <a:endParaRPr/>
          </a:p>
        </p:txBody>
      </p:sp>
      <p:sp>
        <p:nvSpPr>
          <p:cNvPr id="392" name="Google Shape;392;p31"/>
          <p:cNvSpPr txBox="1"/>
          <p:nvPr/>
        </p:nvSpPr>
        <p:spPr>
          <a:xfrm>
            <a:off x="1676400" y="6391275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elements.envato.com</a:t>
            </a:r>
            <a:endParaRPr/>
          </a:p>
        </p:txBody>
      </p:sp>
      <p:sp>
        <p:nvSpPr>
          <p:cNvPr id="393" name="Google Shape;393;p31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394" name="Google Shape;394;p31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9" name="Google Shape;3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629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2"/>
          <p:cNvSpPr txBox="1"/>
          <p:nvPr/>
        </p:nvSpPr>
        <p:spPr>
          <a:xfrm>
            <a:off x="1676400" y="363616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https://media.easy-peasy.ai/253b8945-1751-48c1-bc19-3d9961ad2e53/6b9b4ba8-5d1c-4d57-9f94-4b4eaa29094e_medium.webp</a:t>
            </a:r>
            <a:endParaRPr/>
          </a:p>
        </p:txBody>
      </p:sp>
      <p:sp>
        <p:nvSpPr>
          <p:cNvPr id="402" name="Google Shape;402;p32"/>
          <p:cNvSpPr txBox="1"/>
          <p:nvPr/>
        </p:nvSpPr>
        <p:spPr>
          <a:xfrm>
            <a:off x="1676400" y="386953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easy-peasy.ai</a:t>
            </a:r>
            <a:endParaRPr/>
          </a:p>
        </p:txBody>
      </p:sp>
      <p:sp>
        <p:nvSpPr>
          <p:cNvPr id="403" name="Google Shape;403;p32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404" name="Google Shape;404;p32"/>
          <p:cNvSpPr/>
          <p:nvPr/>
        </p:nvSpPr>
        <p:spPr>
          <a:xfrm>
            <a:off x="581025" y="581025"/>
            <a:ext cx="57150" cy="4953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